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291840"/>
            <a:ext cx="2743200" cy="381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ESG Insight Valuator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4A83C"/>
                </a:solidFill>
                <a:latin typeface="Microsoft YaHei"/>
              </a:defRPr>
            </a:pPr>
            <a:r>
              <a:t>ESG智能估值分析系统 — 行业综合对比报告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566160"/>
            <a:ext cx="1828800" cy="381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CF0"/>
                </a:solidFill>
                <a:latin typeface="Microsoft YaHei"/>
              </a:defRPr>
            </a:pPr>
            <a:r>
              <a:t>报告日期: 2026年06月01日</a:t>
            </a:r>
          </a:p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defRPr sz="1600" b="0">
                <a:solidFill>
                  <a:srgbClr val="E8ECF0"/>
                </a:solidFill>
                <a:latin typeface="Microsoft YaHei"/>
              </a:defRPr>
            </a:pPr>
            <a:r>
              <a:t>覆盖范围: 10大行业 · 10家A股上市公司</a:t>
            </a:r>
          </a:p>
          <a:p>
            <a:pPr algn="l">
              <a:defRPr sz="1600" b="0">
                <a:solidFill>
                  <a:srgbClr val="E8ECF0"/>
                </a:solidFill>
                <a:latin typeface="Microsoft YaHei"/>
              </a:defRPr>
            </a:pPr>
            <a:r>
              <a:t>数据周期: 2019–2024 · 6年连续追踪</a:t>
            </a:r>
          </a:p>
          <a:p>
            <a:pPr algn="l">
              <a:defRPr sz="1600" b="0">
                <a:solidFill>
                  <a:srgbClr val="E8ECF0"/>
                </a:solidFill>
                <a:latin typeface="Microsoft YaHei"/>
              </a:defRPr>
            </a:pPr>
            <a:r>
              <a:t>分析维度: ESG评分 · DCF估值 · 异常检测 · 风险传导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5560"/>
                </a:solidFill>
                <a:latin typeface="Microsoft YaHei"/>
              </a:defRPr>
            </a:pPr>
            <a:r>
              <a:t>CONFIDENTIAL  |  ESG Insight Valuator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3C"/>
                </a:solidFill>
                <a:latin typeface="Microsoft YaHei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1D3A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81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920240" cy="292608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E86AB"/>
                </a:solidFill>
                <a:latin typeface="Microsoft YaHei"/>
              </a:defRPr>
            </a:pPr>
            <a:r>
              <a:t>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Microsoft YaHei"/>
              </a:defRPr>
            </a:pPr>
            <a:r>
              <a:t>ESG量化分析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560"/>
                </a:solidFill>
                <a:latin typeface="Microsoft YaHei"/>
              </a:defRPr>
            </a:pPr>
            <a:r>
              <a:t>动态权重引擎</a:t>
            </a:r>
            <a:br/>
            <a:r>
              <a:t>行业传导分析</a:t>
            </a:r>
            <a:br/>
            <a:r>
              <a:t>趋势动量评估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2011680"/>
            <a:ext cx="1920240" cy="292608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21945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E86AB"/>
                </a:solidFill>
                <a:latin typeface="Microsoft YaHei"/>
              </a:defRPr>
            </a:pPr>
            <a:r>
              <a:t>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Microsoft YaHei"/>
              </a:defRPr>
            </a:pPr>
            <a:r>
              <a:t>DCF多情景估值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200400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560"/>
                </a:solidFill>
                <a:latin typeface="Microsoft YaHei"/>
              </a:defRPr>
            </a:pPr>
            <a:r>
              <a:t>乐观/中性/悲观</a:t>
            </a:r>
            <a:br/>
            <a:r>
              <a:t>概率加权期望值</a:t>
            </a:r>
            <a:br/>
            <a:r>
              <a:t>情绪因子校准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011680"/>
            <a:ext cx="1920240" cy="292608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21945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E86AB"/>
                </a:solidFill>
                <a:latin typeface="Microsoft YaHei"/>
              </a:defRPr>
            </a:pPr>
            <a: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Microsoft YaHei"/>
              </a:defRPr>
            </a:pPr>
            <a:r>
              <a:t>财务异常检测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200400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560"/>
                </a:solidFill>
                <a:latin typeface="Microsoft YaHei"/>
              </a:defRPr>
            </a:pPr>
            <a:r>
              <a:t>LightGBM模型</a:t>
            </a:r>
            <a:br/>
            <a:r>
              <a:t>多维规则标签</a:t>
            </a:r>
            <a:br/>
            <a:r>
              <a:t>风险等级分类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2011680"/>
            <a:ext cx="1920240" cy="292608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21945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E86AB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Microsoft YaHei"/>
              </a:defRPr>
            </a:pPr>
            <a:r>
              <a:t>智能报告生成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200400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560"/>
                </a:solidFill>
                <a:latin typeface="Microsoft YaHei"/>
              </a:defRPr>
            </a:pPr>
            <a:r>
              <a:t>HTML/Markdown</a:t>
            </a:r>
            <a:br/>
            <a:r>
              <a:t>可视化图表</a:t>
            </a:r>
            <a:br/>
            <a:r>
              <a:t>投资建议输出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D3A"/>
                </a:solidFill>
                <a:latin typeface="Microsoft YaHei"/>
              </a:defRPr>
            </a:pPr>
            <a:r>
              <a:t>分析管线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69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560"/>
                </a:solidFill>
                <a:latin typeface="Microsoft YaHei"/>
              </a:defRPr>
            </a:pPr>
            <a:r>
              <a:t>数据加载 → 特征工程 → ESG量化 → 异常检测 → DCF估值 → 因子融合 → 投资建议 → 回测 → 报告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263640"/>
            <a:ext cx="77724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5560"/>
                </a:solidFill>
                <a:latin typeface="Microsoft YaHei"/>
              </a:defRPr>
            </a:pPr>
            <a:r>
              <a:t>ESG Insight Valuator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3C"/>
                </a:solidFill>
                <a:latin typeface="Microsoft YaHei"/>
              </a:defRPr>
            </a:pPr>
            <a:r>
              <a:t>DATA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数据覆盖与行业分布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371600" cy="381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1828800" cy="118872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86AB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0"/>
                </a:solidFill>
                <a:latin typeface="Microsoft YaHei"/>
              </a:defRPr>
            </a:pPr>
            <a:r>
              <a:t>覆盖行业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39" y="1737360"/>
            <a:ext cx="1828800" cy="118872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19" y="1828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CC71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19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0"/>
                </a:solidFill>
                <a:latin typeface="Microsoft YaHei"/>
              </a:defRPr>
            </a:pPr>
            <a:r>
              <a:t>标的公司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59" y="1737360"/>
            <a:ext cx="1828800" cy="118872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39" y="1828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3C"/>
                </a:solidFill>
                <a:latin typeface="Microsoft YaHei"/>
              </a:defRPr>
            </a:pPr>
            <a:r>
              <a:t>6年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39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0"/>
                </a:solidFill>
                <a:latin typeface="Microsoft YaHei"/>
              </a:defRPr>
            </a:pPr>
            <a:r>
              <a:t>追踪周期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79" y="1737360"/>
            <a:ext cx="1828800" cy="118872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59" y="1828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7E22"/>
                </a:solidFill>
                <a:latin typeface="Microsoft YaHei"/>
              </a:defRPr>
            </a:pPr>
            <a:r>
              <a:t>60条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59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0"/>
                </a:solidFill>
                <a:latin typeface="Microsoft YaHei"/>
              </a:defRPr>
            </a:pPr>
            <a:r>
              <a:t>数据记录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91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0"/>
                </a:solidFill>
                <a:latin typeface="Microsoft YaHei"/>
              </a:defRPr>
            </a:pPr>
            <a:r>
              <a:t>●  信息技术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291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0"/>
                </a:solidFill>
                <a:latin typeface="Microsoft YaHei"/>
              </a:defRPr>
            </a:pPr>
            <a:r>
              <a:t>●  化工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291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0"/>
                </a:solidFill>
                <a:latin typeface="Microsoft YaHei"/>
              </a:defRPr>
            </a:pPr>
            <a:r>
              <a:t>●  医药生物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3291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0"/>
                </a:solidFill>
                <a:latin typeface="Microsoft YaHei"/>
              </a:defRPr>
            </a:pPr>
            <a:r>
              <a:t>●  家电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3291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0"/>
                </a:solidFill>
                <a:latin typeface="Microsoft YaHei"/>
              </a:defRPr>
            </a:pPr>
            <a:r>
              <a:t>●  汽车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033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0"/>
                </a:solidFill>
                <a:latin typeface="Microsoft YaHei"/>
              </a:defRPr>
            </a:pPr>
            <a:r>
              <a:t>●  电力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37033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0"/>
                </a:solidFill>
                <a:latin typeface="Microsoft YaHei"/>
              </a:defRPr>
            </a:pPr>
            <a:r>
              <a:t>●  采矿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7033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0"/>
                </a:solidFill>
                <a:latin typeface="Microsoft YaHei"/>
              </a:defRPr>
            </a:pPr>
            <a:r>
              <a:t>●  钢铁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37033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0"/>
                </a:solidFill>
                <a:latin typeface="Microsoft YaHei"/>
              </a:defRPr>
            </a:pPr>
            <a:r>
              <a:t>●  银行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7033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0"/>
                </a:solidFill>
                <a:latin typeface="Microsoft YaHei"/>
              </a:defRPr>
            </a:pPr>
            <a:r>
              <a:t>●  食品饮料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389120"/>
            <a:ext cx="7772400" cy="182880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ESG总分趋势: 56.4 (2019) → 66.6 (2024)  提升 +10.2 分 (+18%)</a:t>
            </a:r>
          </a:p>
          <a:p>
            <a:pPr algn="l"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defRPr sz="1300" b="0">
                <a:solidFill>
                  <a:srgbClr val="E8ECF0"/>
                </a:solidFill>
                <a:latin typeface="Microsoft YaHei"/>
              </a:defRPr>
            </a:pPr>
            <a:r>
              <a:t>· 全行业ESG总分6年持续提升，E维度改善最为显著（+9.4分），反映碳中和政策推动效应</a:t>
            </a:r>
          </a:p>
          <a:p>
            <a:pPr algn="l">
              <a:defRPr sz="1300" b="0">
                <a:solidFill>
                  <a:srgbClr val="E8ECF0"/>
                </a:solidFill>
                <a:latin typeface="Microsoft YaHei"/>
              </a:defRPr>
            </a:pPr>
            <a:r>
              <a:t>· 治理(G)维度普遍较高，社会(S)维度增长稳定，环境(E)维度行业分化明显</a:t>
            </a:r>
          </a:p>
          <a:p>
            <a:pPr algn="l">
              <a:defRPr sz="1300" b="0">
                <a:solidFill>
                  <a:srgbClr val="E8ECF0"/>
                </a:solidFill>
                <a:latin typeface="Microsoft YaHei"/>
              </a:defRPr>
            </a:pPr>
            <a:r>
              <a:t>· 10家公司中10家ESG趋势评级为'改善'或'显著改善'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5560"/>
                </a:solidFill>
                <a:latin typeface="Microsoft YaHei"/>
              </a:defRPr>
            </a:pPr>
            <a:r>
              <a:t>ESG Insight Valuator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3C"/>
                </a:solidFill>
                <a:latin typeface="Microsoft YaHei"/>
              </a:defRPr>
            </a:pPr>
            <a:r>
              <a:t>ESG SCORE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D3A"/>
                </a:solidFill>
                <a:latin typeface="Microsoft YaHei"/>
              </a:defRPr>
            </a:pPr>
            <a:r>
              <a:t>行业ESG评分排名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097280" cy="381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dustry_esg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486400" cy="3840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0" y="1463040"/>
            <a:ext cx="2926080" cy="45720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Microsoft YaHei"/>
              </a:defRPr>
            </a:pPr>
            <a:r>
              <a:t>🏆 TOP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103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5560"/>
                </a:solidFill>
                <a:latin typeface="Microsoft YaHei"/>
              </a:defRPr>
            </a:pPr>
            <a:r>
              <a:t>🥇 信息技术: 78分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6060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5560"/>
                </a:solidFill>
                <a:latin typeface="Microsoft YaHei"/>
              </a:defRPr>
            </a:pPr>
            <a:r>
              <a:t>🥈 银行: 74分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5560"/>
                </a:solidFill>
                <a:latin typeface="Microsoft YaHei"/>
              </a:defRPr>
            </a:pPr>
            <a:r>
              <a:t>🥉 医药生物: 73分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749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⚠ 需关注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560"/>
                </a:solidFill>
                <a:latin typeface="Microsoft YaHei"/>
              </a:defRPr>
            </a:pPr>
            <a:r>
              <a:t>采矿: 51分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70915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560"/>
                </a:solidFill>
                <a:latin typeface="Microsoft YaHei"/>
              </a:defRPr>
            </a:pPr>
            <a:r>
              <a:t>钢铁: 59分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21207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560"/>
                </a:solidFill>
                <a:latin typeface="Microsoft YaHei"/>
              </a:defRPr>
            </a:pPr>
            <a:r>
              <a:t>化工: 60分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577840"/>
            <a:ext cx="8412480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3C"/>
                </a:solidFill>
                <a:latin typeface="Microsoft YaHei"/>
              </a:defRPr>
            </a:pPr>
            <a:r>
              <a:t>💡 关键发现</a:t>
            </a:r>
          </a:p>
          <a:p>
            <a:pPr algn="l">
              <a:defRPr sz="1100" b="0">
                <a:solidFill>
                  <a:srgbClr val="E8ECF0"/>
                </a:solidFill>
                <a:latin typeface="Microsoft YaHei"/>
              </a:defRPr>
            </a:pPr>
            <a:r>
              <a:t>信息技术(77.6分)领跑全行业，采矿(50.7分)垫底。行业ESG标准差8.0分，分化显著。治理(G)维度行业间差异最小，环境(E)维度差异最大。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3C"/>
                </a:solidFill>
                <a:latin typeface="Microsoft YaHei"/>
              </a:defRPr>
            </a:pPr>
            <a:r>
              <a:t>ESG RADAR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行业ESG三维度雷达对比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dustry_multi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5029200"/>
          </a:xfrm>
          <a:prstGeom prst="rect">
            <a:avLst/>
          </a:prstGeom>
        </p:spPr>
      </p:pic>
      <p:pic>
        <p:nvPicPr>
          <p:cNvPr id="7" name="Picture 6" descr="esg_radar_600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371600"/>
            <a:ext cx="2926080" cy="2926080"/>
          </a:xfrm>
          <a:prstGeom prst="rect">
            <a:avLst/>
          </a:prstGeom>
        </p:spPr>
      </p:pic>
      <p:pic>
        <p:nvPicPr>
          <p:cNvPr id="8" name="Picture 7" descr="esg_radar_600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566160"/>
            <a:ext cx="2926080" cy="2926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6492240"/>
            <a:ext cx="7772400" cy="22860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5560"/>
                </a:solidFill>
                <a:latin typeface="Microsoft YaHei"/>
              </a:defRPr>
            </a:pPr>
            <a:r>
              <a:t>ESG Insight Valuator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3C"/>
                </a:solidFill>
                <a:latin typeface="Microsoft YaHei"/>
              </a:defRPr>
            </a:pPr>
            <a:r>
              <a:t>ESG TREND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D3A"/>
                </a:solidFill>
                <a:latin typeface="Microsoft YaHei"/>
              </a:defRPr>
            </a:pPr>
            <a:r>
              <a:t>ESG趋势演变 (2019–2024)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097280" cy="381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dustry_esg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859536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69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D3A"/>
                </a:solidFill>
                <a:latin typeface="Microsoft YaHei"/>
              </a:defRPr>
            </a:pPr>
            <a:r>
              <a:t>年度ESG均值变化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5897880"/>
          <a:ext cx="8229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531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 Score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 Score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 Score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ESG Total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52.0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58.7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58.5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56.4</a:t>
                      </a:r>
                    </a:p>
                  </a:txBody>
                  <a:tcPr/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53.7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61.3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60.2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58.4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54.7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61.9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63.0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59.9</a:t>
                      </a:r>
                    </a:p>
                  </a:txBody>
                  <a:tcPr/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56.9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64.4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64.0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61.8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60.2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67.0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65.7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64.3</a:t>
                      </a:r>
                    </a:p>
                  </a:txBody>
                  <a:tcPr/>
                </a:tc>
              </a:tr>
              <a:tr h="6531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61.4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69.8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68.6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B1D3A"/>
                          </a:solidFill>
                          <a:latin typeface="Microsoft YaHei"/>
                        </a:defRPr>
                      </a:pPr>
                      <a:r>
                        <a:t>66.6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3C"/>
                </a:solidFill>
                <a:latin typeface="Microsoft YaHei"/>
              </a:defRPr>
            </a:pPr>
            <a:r>
              <a:t>RISK CONTAGION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行业风险传导与投资吸引力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dustry_conta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5303520" cy="2743200"/>
          </a:xfrm>
          <a:prstGeom prst="rect">
            <a:avLst/>
          </a:prstGeom>
        </p:spPr>
      </p:pic>
      <p:pic>
        <p:nvPicPr>
          <p:cNvPr id="7" name="Picture 6" descr="industry_attractive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280160"/>
            <a:ext cx="3200400" cy="2743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4206240"/>
            <a:ext cx="8412480" cy="210312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3C"/>
                </a:solidFill>
                <a:latin typeface="Microsoft YaHei"/>
              </a:defRPr>
            </a:pPr>
            <a:r>
              <a:t>💡 风险与投资洞察</a:t>
            </a:r>
          </a:p>
          <a:p>
            <a:pPr algn="l"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defRPr sz="1200" b="0">
                <a:solidFill>
                  <a:srgbClr val="E8ECF0"/>
                </a:solidFill>
                <a:latin typeface="Microsoft YaHei"/>
              </a:defRPr>
            </a:pPr>
            <a:r>
              <a:t>🔴 高传导风险行业: 汽车(82分)、家电(59分) — 长供应链行业更易受上游波动冲击</a:t>
            </a:r>
          </a:p>
          <a:p>
            <a:pPr algn="l">
              <a:defRPr sz="1200" b="0">
                <a:solidFill>
                  <a:srgbClr val="E8ECF0"/>
                </a:solidFill>
                <a:latin typeface="Microsoft YaHei"/>
              </a:defRPr>
            </a:pPr>
            <a:r>
              <a:t>🟢 低传导风险行业: 电力(0分)、采矿(0分)、食品饮料(0分) — 供应链独立性强</a:t>
            </a:r>
          </a:p>
          <a:p>
            <a:pPr algn="l">
              <a:defRPr sz="1200" b="0">
                <a:solidFill>
                  <a:srgbClr val="E8ECF0"/>
                </a:solidFill>
                <a:latin typeface="Microsoft YaHei"/>
              </a:defRPr>
            </a:pPr>
            <a:r>
              <a:t>📊 投资吸引力: 信息技术、医药生物处于高ESG象限；采矿行业存在ESG改善驱动的估值修复机会</a:t>
            </a:r>
          </a:p>
          <a:p>
            <a:pPr algn="l">
              <a:defRPr sz="1200" b="0">
                <a:solidFill>
                  <a:srgbClr val="E8ECF0"/>
                </a:solidFill>
                <a:latin typeface="Microsoft YaHei"/>
              </a:defRPr>
            </a:pPr>
            <a:r>
              <a:t>⚠ 银行行业G维度(91分)表现突出，但E维度(68分)相对较弱，需关注绿色信贷转型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3C"/>
                </a:solidFill>
                <a:latin typeface="Microsoft YaHei"/>
              </a:defRPr>
            </a:pPr>
            <a:r>
              <a:t>ESG QUALITY &amp; MOMENTUM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D3A"/>
                </a:solidFill>
                <a:latin typeface="Microsoft YaHei"/>
              </a:defRPr>
            </a:pPr>
            <a:r>
              <a:t>ESG质量与动量分析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097280" cy="381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dustry_momentum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8595360" cy="3931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486400"/>
            <a:ext cx="8412480" cy="9144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3C"/>
                </a:solidFill>
                <a:latin typeface="Microsoft YaHei"/>
              </a:defRPr>
            </a:pPr>
            <a:r>
              <a:t>💡 质量与动量洞察</a:t>
            </a:r>
          </a:p>
          <a:p>
            <a:pPr algn="l">
              <a:defRPr sz="1100" b="0">
                <a:solidFill>
                  <a:srgbClr val="E8ECF0"/>
                </a:solidFill>
                <a:latin typeface="Microsoft YaHei"/>
              </a:defRPr>
            </a:pPr>
            <a:r>
              <a:t>右上象限（高质量+正动量）的行业具备最佳ESG投资属性。气泡大小反映财务健康度——气泡越大、异常风险越低。采矿行业动量最强（+0.049），显示ESG改善加速。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3C"/>
                </a:solidFill>
                <a:latin typeface="Microsoft YaHei"/>
              </a:defRPr>
            </a:pPr>
            <a:r>
              <a:t>KEY FINDINGS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核心发现与投资建议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381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772400" cy="86868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4A83C"/>
                </a:solidFill>
                <a:latin typeface="Microsoft YaHei"/>
              </a:defRPr>
            </a:pPr>
            <a:r>
              <a:t>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ESG整体向好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745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8ECF0"/>
                </a:solidFill>
                <a:latin typeface="Microsoft YaHei"/>
              </a:defRPr>
            </a:pPr>
            <a:r>
              <a:t>全行业ESG均值从2019年56.4分提升至2024年66.6分(+18%)，碳中和政策推动效果显著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7772400" cy="86868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4A83C"/>
                </a:solidFill>
                <a:latin typeface="Microsoft YaHei"/>
              </a:defRPr>
            </a:pPr>
            <a:r>
              <a:t>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行业分化明显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803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8ECF0"/>
                </a:solidFill>
                <a:latin typeface="Microsoft YaHei"/>
              </a:defRPr>
            </a:pPr>
            <a:r>
              <a:t>信息技术(77.6分) vs 采矿(50.7分)，差距达26.9分。环境(E)维度是主要分化来源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7772400" cy="86868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4A83C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治理维度最均衡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8862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8ECF0"/>
                </a:solidFill>
                <a:latin typeface="Microsoft YaHei"/>
              </a:defRPr>
            </a:pPr>
            <a:r>
              <a:t>G维度行业间标准差最小，中国企业治理水平整体提升，董事会独立性增强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80560"/>
            <a:ext cx="7772400" cy="86868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4A83C"/>
                </a:solidFill>
                <a:latin typeface="Microsoft YaHei"/>
              </a:defRPr>
            </a:pPr>
            <a:r>
              <a:t>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供应链风险传导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8920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8ECF0"/>
                </a:solidFill>
                <a:latin typeface="Microsoft YaHei"/>
              </a:defRPr>
            </a:pPr>
            <a:r>
              <a:t>汽车行业受4个上游行业影响，传导评分82分，需关注供应链ESG风险管理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486400"/>
            <a:ext cx="7772400" cy="86868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32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4A83C"/>
                </a:solidFill>
                <a:latin typeface="Microsoft YaHei"/>
              </a:defRPr>
            </a:pPr>
            <a:r>
              <a:t>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532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ESG改善驱动估值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8978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8ECF0"/>
                </a:solidFill>
                <a:latin typeface="Microsoft YaHei"/>
              </a:defRPr>
            </a:pPr>
            <a:r>
              <a:t>采矿行业动量最高(+0.049)，存在ESG改善驱动的估值修复投资机会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05560"/>
                </a:solidFill>
                <a:latin typeface="Microsoft YaHei"/>
              </a:defRPr>
            </a:pPr>
            <a:r>
              <a:t>ESG Insight Valuator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3108960"/>
            <a:ext cx="3657600" cy="381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4A83C"/>
                </a:solidFill>
                <a:latin typeface="Microsoft YaHei"/>
              </a:defRPr>
            </a:pPr>
            <a:r>
              <a:t>感谢聆听 · 欢迎交流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ESG Insight Valuator v1.0</a:t>
            </a:r>
          </a:p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defRPr sz="1400" b="0">
                <a:solidFill>
                  <a:srgbClr val="E8ECF0"/>
                </a:solidFill>
                <a:latin typeface="Microsoft YaHei"/>
              </a:defRPr>
            </a:pPr>
            <a:r>
              <a:t>ESG智能估值分析系统</a:t>
            </a:r>
          </a:p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defRPr sz="1100" b="0">
                <a:solidFill>
                  <a:srgbClr val="505560"/>
                </a:solidFill>
                <a:latin typeface="Microsoft YaHei"/>
              </a:defRPr>
            </a:pPr>
            <a:r>
              <a:t>数据来源: 10家A股上市公司 2019-2024年度ESG与财务数据</a:t>
            </a:r>
          </a:p>
          <a:p>
            <a:pPr algn="ctr">
              <a:defRPr sz="1100" b="0">
                <a:solidFill>
                  <a:srgbClr val="505560"/>
                </a:solidFill>
                <a:latin typeface="Microsoft YaHei"/>
              </a:defRPr>
            </a:pPr>
            <a:r>
              <a:t>分析方法: DCF多情景估值 · LightGBM异常检测 · 行业动态权重 · 风险传导网络</a:t>
            </a:r>
          </a:p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</a:p>
          <a:p>
            <a:pPr algn="ctr">
              <a:defRPr sz="1000" b="0">
                <a:solidFill>
                  <a:srgbClr val="E74C3C"/>
                </a:solidFill>
                <a:latin typeface="Microsoft YaHei"/>
              </a:defRPr>
            </a:pPr>
            <a:r>
              <a:t>⚠ 本报告仅供研究参考，不构成投资建议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05560"/>
                </a:solidFill>
                <a:latin typeface="Microsoft YaHei"/>
              </a:defRPr>
            </a:pPr>
            <a:r>
              <a:t>CONFIDENTIAL  |  ESG Insight Valuator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